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0" y="1097280"/>
            <a:ext cx="1828800" cy="1828800"/>
          </a:xfrm>
          <a:prstGeom prst="rect">
            <a:avLst/>
          </a:prstGeom>
          <a:solidFill>
            <a:srgbClr val="1E3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097280"/>
            <a:ext cx="7132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 Light"/>
              </a:rPr>
              <a:t>IntegrityForge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7132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6B6D4"/>
                </a:solidFill>
                <a:latin typeface="Calibri"/>
              </a:rPr>
              <a:t>AI-Powered Academic Integrity &amp;
Research Analysis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3520440"/>
            <a:ext cx="2743200" cy="4572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3749039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Semester 4 · Academic Year 2025/2026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16052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Final Project Presentation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6035040"/>
            <a:ext cx="1280160" cy="256032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606247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TypeScript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6035040"/>
            <a:ext cx="1280160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79592" y="606247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Express.js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6035040"/>
            <a:ext cx="77724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4032" y="6062472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React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6035040"/>
            <a:ext cx="128016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2" y="606247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9760" y="6035040"/>
            <a:ext cx="1380744" cy="256032"/>
          </a:xfrm>
          <a:prstGeom prst="rect">
            <a:avLst/>
          </a:prstGeom>
          <a:solidFill>
            <a:srgbClr val="815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82912" y="6062472"/>
            <a:ext cx="1380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Drizzle ORM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744200" y="6035040"/>
            <a:ext cx="1280160" cy="256032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17352" y="606247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Clerk Auth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A full-stack academic integrity and research intelligence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27432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2743200" cy="5486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63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031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Academic
Integrity Engine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081020"/>
            <a:ext cx="73152" cy="73152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AI-generated text detection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401060"/>
            <a:ext cx="73152" cy="73152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3337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Plagiarism similarity scoring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721100"/>
            <a:ext cx="73152" cy="73152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Submission dispute workflow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1325880"/>
            <a:ext cx="27432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46120" y="1325880"/>
            <a:ext cx="2743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1463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1031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Research Gap
Generator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3081020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Domain-aware NLP pipeline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3401060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47872" y="3337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Strict domain gating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3721100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47872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Evidence-traced gap analysis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325880"/>
            <a:ext cx="27432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132588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463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1031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Role-Based
Access Control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3081020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9672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Student · Instructor · Admin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3401060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9672" y="3337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Clerk authentication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3721100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9672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Per-role dashboards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89720" y="1325880"/>
            <a:ext cx="27432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89720" y="1325880"/>
            <a:ext cx="2743200" cy="54864"/>
          </a:xfrm>
          <a:prstGeom prst="rect">
            <a:avLst/>
          </a:prstGeom>
          <a:solidFill>
            <a:srgbClr val="815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0" y="1463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21031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Analytics &amp;
Dashboards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26880" y="3081020"/>
            <a:ext cx="73152" cy="73152"/>
          </a:xfrm>
          <a:prstGeom prst="rect">
            <a:avLst/>
          </a:prstGeom>
          <a:solidFill>
            <a:srgbClr val="815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91472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Submission statistics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26880" y="3401060"/>
            <a:ext cx="73152" cy="73152"/>
          </a:xfrm>
          <a:prstGeom prst="rect">
            <a:avLst/>
          </a:prstGeom>
          <a:solidFill>
            <a:srgbClr val="815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91472" y="3337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Activity tracking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26880" y="3721100"/>
            <a:ext cx="73152" cy="73152"/>
          </a:xfrm>
          <a:prstGeom prst="rect">
            <a:avLst/>
          </a:prstGeom>
          <a:solidFill>
            <a:srgbClr val="815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91472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Instructor oversight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Monorepo (pnpm workspaces) — fully type-safe end-to-end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365760"/>
            <a:ext cx="114300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365760"/>
            <a:ext cx="64008" cy="137160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48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54864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React + Vite · Wouter Router · React Query · Clerk 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65960"/>
            <a:ext cx="114300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965960"/>
            <a:ext cx="64008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API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14884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Express.js · Clerk Middleware · Pino Logging · REST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566160"/>
            <a:ext cx="114300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566160"/>
            <a:ext cx="64008" cy="1371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749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NLP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74904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Gap Pipeline · Lit-Review Pipeline (planned) · TF-IDF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166360"/>
            <a:ext cx="114300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166360"/>
            <a:ext cx="64008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349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Data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534924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PostgreSQL · Drizzle ORM · JSONB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Shared Packages:  @workspace/db  ·  @workspace/api-zod  ·  @workspace/api-client-react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Academic Integrity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Heuristic-based AI detection + Jaccard plagiarism scoring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54864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486400" cy="5486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AI Detection Signals  (0–100 score)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594360" cy="384048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5740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30 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011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AI Phrase Density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2677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45 known LLM filler phrases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594360" cy="384048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8892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20 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743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Contraction Scarcity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9992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AI rarely uses contractions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74720"/>
            <a:ext cx="594360" cy="384048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52044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15 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474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First-Person Scarcity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7307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AI avoids I / we / my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06240"/>
            <a:ext cx="594360" cy="384048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25196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20 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206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Sentence Uniformity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4622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AI has consistent lengths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37760"/>
            <a:ext cx="594360" cy="384048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98348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15 pts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937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Passive Voice Density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1937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AI overuses passive voice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1325880"/>
            <a:ext cx="576072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1325880"/>
            <a:ext cx="5760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14630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Plagiarism Detection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2075180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3952" y="20116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Character-level 5-gram shingle comparison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2395220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3952" y="23317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Jaccard similarity scored 0–100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2715260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3952" y="26517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Pairwise comparison against all other submissions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3035300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73952" y="29718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Returns maximum similarity score found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3355340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73952" y="32918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Threshold-based flagging for instructor review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3675380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73952" y="36118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Dispute workflow for contested decisions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Research Gap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Domain-aware 6-stage NLP pipeline — zero external AI APIs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3749039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48640" cy="219456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148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55448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Domain
Classifier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402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Keyword scoring → confidence %
11 research domains supported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22402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8BFD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371600"/>
            <a:ext cx="3749039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1371600"/>
            <a:ext cx="548640" cy="2194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79" y="2148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59" y="155448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Topic
Extractor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59" y="22402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Domain-grounded topic extraction
Mention frequency scoring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0998" y="22402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B6D4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371600"/>
            <a:ext cx="3749039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371600"/>
            <a:ext cx="548640" cy="2194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2148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155448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Contribution
Extractor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2402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Objective, methodology, findings
Explicit + implicit limitations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840480"/>
            <a:ext cx="3749039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840480"/>
            <a:ext cx="548640" cy="2194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4617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02336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Coverage
Analyzer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7091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Maps topics to coverage state:
covered / partial / missing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59" y="47091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9E0B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59" y="3840480"/>
            <a:ext cx="3749039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51959" y="3840480"/>
            <a:ext cx="548640" cy="2194560"/>
          </a:xfrm>
          <a:prstGeom prst="rect">
            <a:avLst/>
          </a:prstGeom>
          <a:solidFill>
            <a:srgbClr val="815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79" y="4617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59" y="402336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Gap
Generator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59" y="47091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Subdomain-scoped templates only
Strict primary-domain gating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998" y="47091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15CF8"/>
                </a:solidFill>
                <a:latin typeface="Calibri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3840480"/>
            <a:ext cx="3749039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3840480"/>
            <a:ext cx="548640" cy="219456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4617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05/06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400" y="402336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Validator &amp;
Deduplication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5400" y="47091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5-check semantic validation
Duplicate gap merging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Strict Domain Gating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The fix that eliminated cross-domain template leakage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30352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3035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❌  Old Behaviour (Broken)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75180"/>
            <a:ext cx="73152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0116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Iterated over ALL detected domains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95220"/>
            <a:ext cx="73152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3317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Finance templates applied to Business papers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15260"/>
            <a:ext cx="73152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651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Consumer Behavior templates applied to Supply Chain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35300"/>
            <a:ext cx="73152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971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Education templates applied to Healthcare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55340"/>
            <a:ext cx="73152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2918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{primaryTopic} used to swap domain nouns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75380"/>
            <a:ext cx="73152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6118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Resulted in nonsense gaps e.g.: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995420"/>
            <a:ext cx="73152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3931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  'Investors managing Waste Management'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315460"/>
            <a:ext cx="73152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4251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  'Teachers improving Asset Pricing'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1371600"/>
            <a:ext cx="59436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0" y="1371600"/>
            <a:ext cx="5943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15087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✅  New Behaviour (Fixed)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2057400"/>
            <a:ext cx="868680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2212848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≥ 70%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2057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PRIMARY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Templates retrieved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3063240"/>
            <a:ext cx="8686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3218688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40–69%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3063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SECONDARY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UI display only — no templates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4069080"/>
            <a:ext cx="868680" cy="6400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4224528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&lt;  40%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069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WEAK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4389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Completely ignored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5212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Hierarchical Retrieval: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5577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Primary Domain  →  Matching Subdomains  →  Generic Templates  →  Stop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Domain Rules &amp; Subdomain Templates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11 domains · each with subdomains, expectedActors, expectedConcepts, and genericTemplates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3474720" cy="320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8988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Primary Domain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40" y="1371600"/>
            <a:ext cx="3657600" cy="32004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138988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Subdomain 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371600"/>
            <a:ext cx="365760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0" y="138988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Subdomain 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719072"/>
            <a:ext cx="3474720" cy="40233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792224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Artificial Intelligence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40" y="1719072"/>
            <a:ext cx="3657600" cy="40233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58768" y="1792224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Ethics &amp; Evaluation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1719072"/>
            <a:ext cx="3657600" cy="40233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8" y="1792224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Production Deployment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139696"/>
            <a:ext cx="3474720" cy="402336"/>
          </a:xfrm>
          <a:prstGeom prst="rect">
            <a:avLst/>
          </a:prstGeom>
          <a:solidFill>
            <a:srgbClr val="16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21284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Consumer Behavior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40" y="2139696"/>
            <a:ext cx="3657600" cy="402336"/>
          </a:xfrm>
          <a:prstGeom prst="rect">
            <a:avLst/>
          </a:prstGeom>
          <a:solidFill>
            <a:srgbClr val="16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58768" y="221284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Demographics &amp; Culture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2139696"/>
            <a:ext cx="3657600" cy="402336"/>
          </a:xfrm>
          <a:prstGeom prst="rect">
            <a:avLst/>
          </a:prstGeom>
          <a:solidFill>
            <a:srgbClr val="16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16368" y="221284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Psychology &amp; Dynamics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560320"/>
            <a:ext cx="3474720" cy="40233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263347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Food Science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40" y="2560320"/>
            <a:ext cx="3657600" cy="40233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58768" y="263347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Nutrition &amp; Health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2560320"/>
            <a:ext cx="3657600" cy="40233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16368" y="263347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Sustainability &amp; Supply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980944"/>
            <a:ext cx="3474720" cy="402336"/>
          </a:xfrm>
          <a:prstGeom prst="rect">
            <a:avLst/>
          </a:prstGeom>
          <a:solidFill>
            <a:srgbClr val="16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3054096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Healthcare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40" y="2980944"/>
            <a:ext cx="3657600" cy="402336"/>
          </a:xfrm>
          <a:prstGeom prst="rect">
            <a:avLst/>
          </a:prstGeom>
          <a:solidFill>
            <a:srgbClr val="16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58768" y="3054096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Clinical Outcomes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2980944"/>
            <a:ext cx="3657600" cy="402336"/>
          </a:xfrm>
          <a:prstGeom prst="rect">
            <a:avLst/>
          </a:prstGeom>
          <a:solidFill>
            <a:srgbClr val="16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16368" y="3054096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Public Health &amp; Equity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401568"/>
            <a:ext cx="3474720" cy="40233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" y="347472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Education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49040" y="3401568"/>
            <a:ext cx="3657600" cy="40233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58768" y="347472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Pedagogy &amp; Assessment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06640" y="3401568"/>
            <a:ext cx="3657600" cy="40233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16368" y="347472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Educational Equity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822191"/>
            <a:ext cx="3474720" cy="402336"/>
          </a:xfrm>
          <a:prstGeom prst="rect">
            <a:avLst/>
          </a:prstGeom>
          <a:solidFill>
            <a:srgbClr val="16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4048" y="3895343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Business &amp; Management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49040" y="3822191"/>
            <a:ext cx="3657600" cy="402336"/>
          </a:xfrm>
          <a:prstGeom prst="rect">
            <a:avLst/>
          </a:prstGeom>
          <a:solidFill>
            <a:srgbClr val="16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58768" y="3895343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Strategy &amp; Scale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06640" y="3822191"/>
            <a:ext cx="3657600" cy="402336"/>
          </a:xfrm>
          <a:prstGeom prst="rect">
            <a:avLst/>
          </a:prstGeom>
          <a:solidFill>
            <a:srgbClr val="16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16368" y="3895343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Longitudinal Dynamics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4242816"/>
            <a:ext cx="3474720" cy="40233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4048" y="431596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Agriculture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749040" y="4242816"/>
            <a:ext cx="3657600" cy="40233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58768" y="431596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Climate &amp; Sustainability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06640" y="4242816"/>
            <a:ext cx="3657600" cy="40233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16368" y="431596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Smallholder Adoption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663440"/>
            <a:ext cx="3474720" cy="402336"/>
          </a:xfrm>
          <a:prstGeom prst="rect">
            <a:avLst/>
          </a:prstGeom>
          <a:solidFill>
            <a:srgbClr val="16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473659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Finance &amp; Economics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9040" y="4663440"/>
            <a:ext cx="3657600" cy="402336"/>
          </a:xfrm>
          <a:prstGeom prst="rect">
            <a:avLst/>
          </a:prstGeom>
          <a:solidFill>
            <a:srgbClr val="16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858768" y="473659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Behavioral Finance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06640" y="4663440"/>
            <a:ext cx="3657600" cy="402336"/>
          </a:xfrm>
          <a:prstGeom prst="rect">
            <a:avLst/>
          </a:prstGeom>
          <a:solidFill>
            <a:srgbClr val="16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516368" y="473659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Financial Inclusion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5084064"/>
            <a:ext cx="3474720" cy="40233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84048" y="5157216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749040" y="5084064"/>
            <a:ext cx="3657600" cy="40233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58768" y="5157216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Security &amp; Privacy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06640" y="5084064"/>
            <a:ext cx="3657600" cy="40233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16368" y="5157216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Interoperability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5504688"/>
            <a:ext cx="3474720" cy="402336"/>
          </a:xfrm>
          <a:prstGeom prst="rect">
            <a:avLst/>
          </a:prstGeom>
          <a:solidFill>
            <a:srgbClr val="16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84048" y="557784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Cybersecurity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749040" y="5504688"/>
            <a:ext cx="3657600" cy="402336"/>
          </a:xfrm>
          <a:prstGeom prst="rect">
            <a:avLst/>
          </a:prstGeom>
          <a:solidFill>
            <a:srgbClr val="16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858768" y="557784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Human Factors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406640" y="5504688"/>
            <a:ext cx="3657600" cy="402336"/>
          </a:xfrm>
          <a:prstGeom prst="rect">
            <a:avLst/>
          </a:prstGeom>
          <a:solidFill>
            <a:srgbClr val="16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516368" y="557784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Emerging Threats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5925312"/>
            <a:ext cx="3474720" cy="40233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84048" y="5998464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Environmental Science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49040" y="5925312"/>
            <a:ext cx="3657600" cy="40233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858768" y="5998464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Policy &amp; Governance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406640" y="5925312"/>
            <a:ext cx="3657600" cy="40233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516368" y="5998464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Community Engagement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815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5-Layer Semantic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Every generated gap passes 5 deterministic checks before being returned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815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1161288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64008" cy="86868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914400" cy="45720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Check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5544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Domain Consistency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93852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Gap's domainKey must match detected primary domain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423160"/>
            <a:ext cx="1161288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423160"/>
            <a:ext cx="64008" cy="868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606040"/>
            <a:ext cx="91440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606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Check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5146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Concept Leakage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289864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Gap text must not contain forbiddenInGaps terms for this domain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1161288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383280"/>
            <a:ext cx="64008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566160"/>
            <a:ext cx="9144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566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Check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4747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Logical Derivation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8587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Trigger keywords must link to extracted paper limitations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343400"/>
            <a:ext cx="1161288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343400"/>
            <a:ext cx="64008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526280"/>
            <a:ext cx="9144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5262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Check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44348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Wording Overlap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481888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Trigger keywords must not already appear ≥2× in paper findings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303520"/>
            <a:ext cx="1161288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5303520"/>
            <a:ext cx="64008" cy="868680"/>
          </a:xfrm>
          <a:prstGeom prst="rect">
            <a:avLst/>
          </a:prstGeom>
          <a:solidFill>
            <a:srgbClr val="815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5486400"/>
            <a:ext cx="914400" cy="457200"/>
          </a:xfrm>
          <a:prstGeom prst="rect">
            <a:avLst/>
          </a:prstGeom>
          <a:solidFill>
            <a:srgbClr val="815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486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Check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53949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Semantic Consistency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8760" y="57790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Domain actors must not be combined with foreign domain concepts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If all 5 checks pass → gap is returned  |  If ALL gaps fail → best-effort results returned with review warning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AI Literature Review Assistant  (Planned)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Independent module — 9-stage pipeline → 5 frontend tabs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118872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1188720" cy="5486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554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88BFD"/>
                </a:solidFill>
                <a:latin typeface="Calibri"/>
              </a:rPr>
              <a:t>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874519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Paper Parser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73736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72768" y="1417320"/>
            <a:ext cx="118872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72768" y="1417320"/>
            <a:ext cx="11887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72768" y="1554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B6D4"/>
                </a:solidFill>
                <a:latin typeface="Calibri"/>
              </a:rPr>
              <a:t>S2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874519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Concept Extractor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173736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71215" y="1417320"/>
            <a:ext cx="118872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71215" y="1417320"/>
            <a:ext cx="1188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71215" y="1554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S3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71215" y="1874519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Concept Normalizer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9935" y="173736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9663" y="1417320"/>
            <a:ext cx="118872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69663" y="1417320"/>
            <a:ext cx="1188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69663" y="1554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  <a:latin typeface="Calibri"/>
              </a:rPr>
              <a:t>S4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9663" y="1874519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Theme Detector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58383" y="173736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68112" y="1417320"/>
            <a:ext cx="118872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68112" y="1417320"/>
            <a:ext cx="1188720" cy="54864"/>
          </a:xfrm>
          <a:prstGeom prst="rect">
            <a:avLst/>
          </a:prstGeom>
          <a:solidFill>
            <a:srgbClr val="815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68112" y="1554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15CF8"/>
                </a:solidFill>
                <a:latin typeface="Calibri"/>
              </a:rPr>
              <a:t>S5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68112" y="1874519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Lit Synthesizer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6832" y="173736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59" y="1417320"/>
            <a:ext cx="118872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66559" y="1417320"/>
            <a:ext cx="1188720" cy="5486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59" y="1554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88BFD"/>
                </a:solidFill>
                <a:latin typeface="Calibri"/>
              </a:rPr>
              <a:t>S6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59" y="1874519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Comparator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173736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1417320"/>
            <a:ext cx="118872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65008" y="1417320"/>
            <a:ext cx="11887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65008" y="1554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B6D4"/>
                </a:solidFill>
                <a:latin typeface="Calibri"/>
              </a:rPr>
              <a:t>S7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5008" y="1874519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Lit Matrix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173736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63456" y="1417320"/>
            <a:ext cx="118872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363456" y="1417320"/>
            <a:ext cx="1188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63456" y="1554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S8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63456" y="1874519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Statistics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52176" y="173736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661904" y="1417320"/>
            <a:ext cx="118872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661904" y="1417320"/>
            <a:ext cx="1188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61904" y="1554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  <a:latin typeface="Calibri"/>
              </a:rPr>
              <a:t>S9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61904" y="1874519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Citation Indexer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2926080"/>
            <a:ext cx="224028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74320" y="2926080"/>
            <a:ext cx="2240280" cy="5486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306324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88BFD"/>
                </a:solidFill>
                <a:latin typeface="Calibri"/>
              </a:rPr>
              <a:t>Tab 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338328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Literature
Review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132580"/>
            <a:ext cx="73152" cy="73152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0352" y="4069080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Academic sections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4480052"/>
            <a:ext cx="73152" cy="73152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0352" y="4416552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Consensus &amp; differences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4827524"/>
            <a:ext cx="73152" cy="73152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0352" y="4764024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5 elements per theme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651760" y="2926080"/>
            <a:ext cx="224028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651760" y="2926080"/>
            <a:ext cx="2240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43200" y="306324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Tab 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3200" y="338328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Paper
Comparison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0" y="4132580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907792" y="4069080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11-field typed table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0" y="4480052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907792" y="4416552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Contradiction highlighting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0" y="4827524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907792" y="4764024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Cross-paper analysis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29200" y="2926080"/>
            <a:ext cx="224028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029200" y="2926080"/>
            <a:ext cx="22402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120640" y="306324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  <a:latin typeface="Calibri"/>
              </a:rPr>
              <a:t>Tab 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120640" y="338328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Lexical
Search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120640" y="4132580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285232" y="4069080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TF-IDF citation ranking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120640" y="4480052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285232" y="4416552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SearchEngine abstraction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120640" y="4827524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285232" y="4764024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Future: embeddings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06640" y="2926080"/>
            <a:ext cx="224028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06640" y="2926080"/>
            <a:ext cx="22402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98080" y="306324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Calibri"/>
              </a:rPr>
              <a:t>Tab 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98080" y="338328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Literature
Matrix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498080" y="4132580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662672" y="4069080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Theme × Paper grid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498080" y="4480052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662672" y="4416552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Gradient relevance score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498080" y="4827524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662672" y="4764024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0–100 per cell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784080" y="2926080"/>
            <a:ext cx="224028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784080" y="2926080"/>
            <a:ext cx="2240280" cy="54864"/>
          </a:xfrm>
          <a:prstGeom prst="rect">
            <a:avLst/>
          </a:prstGeom>
          <a:solidFill>
            <a:srgbClr val="815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875520" y="306324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15CF8"/>
                </a:solidFill>
                <a:latin typeface="Calibri"/>
              </a:rPr>
              <a:t>Tab 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875520" y="338328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Research
Statistics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875520" y="4132580"/>
            <a:ext cx="73152" cy="73152"/>
          </a:xfrm>
          <a:prstGeom prst="rect">
            <a:avLst/>
          </a:prstGeom>
          <a:solidFill>
            <a:srgbClr val="815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040112" y="4069080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Domain distribution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875520" y="4480052"/>
            <a:ext cx="73152" cy="73152"/>
          </a:xfrm>
          <a:prstGeom prst="rect">
            <a:avLst/>
          </a:prstGeom>
          <a:solidFill>
            <a:srgbClr val="815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040112" y="4416552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Methodology breakdown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875520" y="4827524"/>
            <a:ext cx="73152" cy="73152"/>
          </a:xfrm>
          <a:prstGeom prst="rect">
            <a:avLst/>
          </a:prstGeom>
          <a:solidFill>
            <a:srgbClr val="815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040112" y="4764024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Confidence-scored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Key Architectural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Design choices that define the system's integrity and scalability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76072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64008" cy="141732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No External AI APIs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All NLP is heuristic-based pure TypeScript. No API keys, no latency, no cost.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76072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64008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2704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Strict Domain Gating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6596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Primary domain (≥70% confidence) exclusively owns template retrieval. Secondary domains cannot contribute gaps.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017520"/>
            <a:ext cx="576072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017520"/>
            <a:ext cx="64008" cy="1417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12724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Modular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56616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Each stage is a single-responsibility file. Stages communicate via typed interfaces only.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017520"/>
            <a:ext cx="576072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017520"/>
            <a:ext cx="64008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12724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Confidence Scoring Throughout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56616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Every extracted value carries an extractionMethod and confidence (0–1). No silent failures.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617720"/>
            <a:ext cx="576072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617720"/>
            <a:ext cx="64008" cy="1417320"/>
          </a:xfrm>
          <a:prstGeom prst="rect">
            <a:avLst/>
          </a:prstGeom>
          <a:solidFill>
            <a:srgbClr val="815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72744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Deterministic Outputs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16636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Same input → identical output on every run. No Math.random(), all arrays sorted by stable keys.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4617720"/>
            <a:ext cx="576072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4617720"/>
            <a:ext cx="64008" cy="141732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72744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Zero Cross-Module Coupling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16636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Literature Review module imports nothing from the Gap Generator module. Independently testable.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815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A modern, type-safe monorepo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815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417320"/>
            <a:ext cx="2240280" cy="5074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417320"/>
            <a:ext cx="2240280" cy="5486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8BFD"/>
                </a:solidFill>
                <a:latin typeface="Calibri"/>
              </a:rPr>
              <a:t>Frontend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57400"/>
            <a:ext cx="201168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React + Vite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414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UI Framework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26080"/>
            <a:ext cx="201168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71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Wouter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101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Client Routing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201168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840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React Query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788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Server State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663440"/>
            <a:ext cx="201168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709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Clerk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474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Auth UI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532120"/>
            <a:ext cx="201168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577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Vanilla CSS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161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Styling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33472" y="1417320"/>
            <a:ext cx="2240280" cy="5074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33472" y="1417320"/>
            <a:ext cx="2240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Backend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2057400"/>
            <a:ext cx="201168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Express.js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24414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HTTP Server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2926080"/>
            <a:ext cx="201168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34640" y="2971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Clerk Express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33101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Auth Middleware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3794760"/>
            <a:ext cx="201168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4640" y="3840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Pino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41788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Structured Logging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0" y="4663440"/>
            <a:ext cx="201168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34640" y="4709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ESBuild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50474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Build Tool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10912" y="1417320"/>
            <a:ext cx="2240280" cy="5074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10912" y="1417320"/>
            <a:ext cx="22402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2064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Data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0640" y="2057400"/>
            <a:ext cx="201168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1208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24414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Primary Database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0" y="2926080"/>
            <a:ext cx="201168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12080" y="2971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Drizzle ORM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2080" y="33101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Type-safe Query Builder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0" y="3794760"/>
            <a:ext cx="201168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12080" y="3840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JSONB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2080" y="41788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Flexible Analysis Storage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88352" y="1417320"/>
            <a:ext cx="2240280" cy="5074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88352" y="1417320"/>
            <a:ext cx="22402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9808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Shared Libs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98080" y="2057400"/>
            <a:ext cx="201168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8952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api-zod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89520" y="24414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Zod Validators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98080" y="2926080"/>
            <a:ext cx="201168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89520" y="2971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api-client-react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89520" y="33101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React Query Hooks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98080" y="3794760"/>
            <a:ext cx="201168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89520" y="3840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@workspace/db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89520" y="41788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ORM Schema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765792" y="1417320"/>
            <a:ext cx="2240280" cy="5074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765792" y="1417320"/>
            <a:ext cx="2240280" cy="54864"/>
          </a:xfrm>
          <a:prstGeom prst="rect">
            <a:avLst/>
          </a:prstGeom>
          <a:solidFill>
            <a:srgbClr val="815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7552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15CF8"/>
                </a:solidFill>
                <a:latin typeface="Calibri"/>
              </a:rPr>
              <a:t>Tooling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875520" y="2057400"/>
            <a:ext cx="201168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96696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pnpm workspaces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66960" y="24414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Monorepo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875520" y="2926080"/>
            <a:ext cx="201168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966960" y="2971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TypeScript 5.9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66960" y="33101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Type Safety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875520" y="3794760"/>
            <a:ext cx="201168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966960" y="3840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node:test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66960" y="41788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Unit Testing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875520" y="4663440"/>
            <a:ext cx="201168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966960" y="4709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tsx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66960" y="50474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Test Runner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Results &amp; Achievements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274320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2743200" cy="5486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50876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388BFD"/>
                </a:solidFill>
                <a:latin typeface="Calibr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2860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Research Domains
Supported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371600"/>
            <a:ext cx="274320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371600"/>
            <a:ext cx="2743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50876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10B981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2860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Validation Checks
Per Gap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74320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27432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50876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6B6D4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2860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NLP Pipeline
Stages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1371600"/>
            <a:ext cx="274320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37160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150876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59E0B"/>
                </a:solidFill>
                <a:latin typeface="Calibri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2860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Planned LitReview
Stages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291840"/>
            <a:ext cx="566928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291840"/>
            <a:ext cx="5669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4290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Implemented Features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995420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39319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Full-stack monorepo with role-based access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315460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42519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AI text detection (5 heuristic signals, 0–100 score)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635500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45720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Plagiarism detection via Jaccard shingle similarity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955540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4892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Domain-aware research gap generator (6-stage pipeline)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275580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52120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Strict domain gating eliminates cross-domain leakage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595620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55321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Subdomain-scoped template retrieval system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915660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5852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Semantic actor/concept consistency validation (Check 5)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235700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61722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Unit test suite for gap generator pipeline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291840"/>
            <a:ext cx="566928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3291840"/>
            <a:ext cx="56692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34290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Planned Features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3995420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65392" y="39319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AI Literature Review Assistant (9-stage pipeline)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4315460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65392" y="42519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Concept extraction with confidence scoring (0–1)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4635500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65392" y="45720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Deterministic concept normalization pipeline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4955540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65392" y="4892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Weighted graph-based theme clustering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5275580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65392" y="52120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Literature matrix with gradient relevance (0–100)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5595620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65392" y="55321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TF-IDF lexical search (SearchEngine abstraction)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0" y="5915660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65392" y="5852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Research statistics with confidence scoring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6235700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65392" y="61722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7 comprehensive unit test files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017520"/>
            <a:ext cx="5760720" cy="4572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6B6D4"/>
                </a:solidFill>
                <a:latin typeface="Calibri"/>
              </a:rPr>
              <a:t>IntegrityForge — AI-Powered Academic Integrity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394459" y="5669280"/>
            <a:ext cx="1280160" cy="256032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7611" y="569671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TypeScript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03219" y="5669280"/>
            <a:ext cx="1280160" cy="256032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6371" y="569671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Express.js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1979" y="5669280"/>
            <a:ext cx="777240" cy="256032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5131" y="5696712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React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17819" y="5669280"/>
            <a:ext cx="1280160" cy="256032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90971" y="569671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26579" y="5669280"/>
            <a:ext cx="1380744" cy="256032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9731" y="5696712"/>
            <a:ext cx="1380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Drizzle ORM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35923" y="5669280"/>
            <a:ext cx="1280160" cy="256032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09075" y="569671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Clerk Auth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44683" y="5669280"/>
            <a:ext cx="1481328" cy="256032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17835" y="5696712"/>
            <a:ext cx="1481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NLP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
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713232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IntegrityForge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71323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06B6D4"/>
                </a:solidFill>
                <a:latin typeface="Calibri"/>
              </a:rPr>
              <a:t>Academic Integrity &amp; Research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651760"/>
            <a:ext cx="274320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33832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3383280" cy="137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IntegrityForge is an advanced full-stack workspace that merges academic integrity scanning with domain-aware research gap discovery.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33832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Purpose &amp; Target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21100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65760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Purpose: Uplift research quality, prevent academic fraud, and systematize literature reviews.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06900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434340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Students: Upload papers, find verified gaps, run integrity pre-checks.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92700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2920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Instructors: Manage assignments, inspect similarity graphs, resolve disputes.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5943600"/>
            <a:ext cx="1280160" cy="23774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5961888"/>
            <a:ext cx="1280160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5943600"/>
            <a:ext cx="1280160" cy="23774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5961888"/>
            <a:ext cx="1280160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Express.js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5943600"/>
            <a:ext cx="77724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5961888"/>
            <a:ext cx="777240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5943600"/>
            <a:ext cx="128016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5961888"/>
            <a:ext cx="1280160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5943600"/>
            <a:ext cx="1380744" cy="237744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2" y="5961888"/>
            <a:ext cx="1380744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Drizzle 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0" y="5943600"/>
            <a:ext cx="1280160" cy="23774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88752" y="5961888"/>
            <a:ext cx="1280160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Clerk Auth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Challenges facing modern academic environments and research institutions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74903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3832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🛑  Rising AI Plagiarism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38328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The explosion of generative LLMs has made traditional keyword-based plagiarism checkers obsolete. Institutions struggle to identify heuristically generated text that passes simple copy-paste scans, resulting in diminished academic credibility.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749039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45920"/>
            <a:ext cx="33832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⚠️  Unproductive Literature Review 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338328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Researchers and students waste months manually parsing hundreds of papers to locate novel research topics, often resulting in redundant research, missed opportunities, or misaligned methodologies due to cognitive overload.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749039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749039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33832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💔  Lack of Trust &amp; Transparency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38328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When fraud is suspected, the lack of verifiable logs, visual similarity graphs, or structured dispute paths creates friction between educators and students, lowering morale and trust within academic communities.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Proposed Solution: IntegrityForge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An integrated approach combining integrity defenses and research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0352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4937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Overview of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493776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IntegrityForge bridges two separated domains into a single workspace:
1. It protects the institution from academic integrity threats through multi-dimensional AI detection and n-gram shingle similarity scoring.
2. It accelerates valid academic progress using a modular NLP pipeline that extracts contributions, matches subdomains, and generates verified, non-leaking research gaps.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371600"/>
            <a:ext cx="594360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371600"/>
            <a:ext cx="5943600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5778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Unique Value &amp; Benefits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666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103120"/>
            <a:ext cx="539496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Zero External API Costs: Entire NLP stack operates locally inside pnpm workspaces via lightweight JavaScript heuristics.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0810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017520"/>
            <a:ext cx="539496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Deterministic Gap Finding: Elimination of cross-domain leakage ensures generated gaps are academically grounded.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9954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931920"/>
            <a:ext cx="539496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Role-Based Dashboards: Dedicated environments for Students (Gap Finder, Pre-check) and Instructors (Assignments, Submissions, Disputes).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9098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4846320"/>
            <a:ext cx="539496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Evidence-Linked Explanations: Every generated research gap directly cites source limitations and contributions.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Business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Key requirements driving the platform's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749039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3832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Student &amp; Instructor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5806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19456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Students must be able to upload documents for instant AI/Plagiarism pre-checks.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1818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15468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Students must be able to run multi-paper gap analyses to find open research areas.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7830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11480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Instructors must be able to create assignments and review student submissions.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384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07492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Instructors must have tools to resolve students' integrity flag disputes.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371600"/>
            <a:ext cx="3749039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137160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554480"/>
            <a:ext cx="33832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Functional Requirements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225806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219456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AI Text Detector must check phrase density, contractions, passive voice, and uniformity.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2181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15468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Plagiarism Engine must calculate Jaccard similarity across class submissions.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17830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411480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Gap Generator must gate templates strictly to domains with &gt;=70% confidence.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513842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507492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Validation Layer must verify actor/concept semantic consistency across domains.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371600"/>
            <a:ext cx="3749039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37160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554480"/>
            <a:ext cx="33832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25806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219456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Security: Clerk authentication must secure all endpoints and enforce role-based access.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21818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85632" y="315468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Usability: Fully responsive modern UI incorporating rich slate-dark color palettes.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17830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411480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Performance: Analysis pipelines must execute completely in memory without heavy AI runtime costs.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513842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5074920"/>
            <a:ext cx="32004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Modularity: The code must maintain separated shared library packages and app containers.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Core Features &amp;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Categorization of system capabilities by rollout priority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749039" cy="54864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3832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P0  ·  Essential MVP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666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1031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Clerk authentication and student/instructor onboarding.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524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7889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AI text detection using the 5 heuristic metrics (0-100 score).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382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4747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Plagiarism similarity scoring comparing class documents.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240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1605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Domain-aware research gap generator with strict gating.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098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8463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Assignment submissions list and instructor detail views.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595620"/>
            <a:ext cx="64008" cy="64008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5321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Interactive student dispute submission form.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371600"/>
            <a:ext cx="3749039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137160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554480"/>
            <a:ext cx="33832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P1  ·  Immediate Enhancements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16662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21031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5-layer semantic validator to prevent domain-swapped gaps.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85242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27889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Subdomain-scoped template mapping in domain_rules.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53822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34747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Interactive submission similarity graph visualization.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22402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1605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Structured logs &amp; statistics tracker.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371600"/>
            <a:ext cx="3749039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137160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1554480"/>
            <a:ext cx="33832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P2  ·  Planned Additions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216662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21031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AI Literature Review Assistant.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285242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27889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Scored concept extraction and deterministic synonym normalization.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353822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2" y="34747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Weighted graph-based paper theme community detection.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422402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2" y="41605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Widescreen gradient-coded literature review coverage matrix.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490982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4846320"/>
            <a:ext cx="320040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TF-IDF lexical search and confidence-scored research statistics.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Business 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Step-by-step lifecycle of paper uploads, integrity checking, and gap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65760"/>
            <a:ext cx="114300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65760"/>
            <a:ext cx="64008" cy="9144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"/>
            <a:ext cx="2011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388BFD"/>
                </a:solidFill>
                <a:latin typeface="Calibri"/>
              </a:rPr>
              <a:t>Paper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64008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User submits papers (project name, titles, abstracts)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1188720"/>
            <a:ext cx="457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45920"/>
            <a:ext cx="114300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45920"/>
            <a:ext cx="64008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20240"/>
            <a:ext cx="2011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Integrity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92024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AI Heuristics &amp; Jaccard Shingle similarities evaluated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2468880"/>
            <a:ext cx="457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114300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6400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00400"/>
            <a:ext cx="2011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0040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Domain keyword scoring detects primary domain (&gt;= 70%)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3749040"/>
            <a:ext cx="457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114300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20624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2011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Contribution 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48056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Extracts objectives, methodologies, findings, 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5029200"/>
            <a:ext cx="4572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86400"/>
            <a:ext cx="114300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486400"/>
            <a:ext cx="64008" cy="914400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2011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815CF8"/>
                </a:solidFill>
                <a:latin typeface="Calibri"/>
              </a:rPr>
              <a:t>Gap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76072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Subdomain templates filled &amp; validated (5-layer checks)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766560"/>
            <a:ext cx="1143000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6766560"/>
            <a:ext cx="64008" cy="9144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7040880"/>
            <a:ext cx="20116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388BFD"/>
                </a:solidFill>
                <a:latin typeface="Calibri"/>
              </a:rPr>
              <a:t>Display &amp;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7040880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Dashboard shows metrics, gaps, assignment grades, disputes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Strategic benefits and key performance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48640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48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Target Benefits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7518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11680"/>
            <a:ext cx="49377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Benefits for Users (Students &amp; Researchers): Real-time validation of novel ideas, lower risk of unintentional plagiarism, and clear research direction.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7246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108960"/>
            <a:ext cx="49377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Benefits for Educators: Reduced grading workload, instant verification of student originality, and visual insight into collaboration patterns.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6974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206240"/>
            <a:ext cx="49377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Benefits for Institutions: Protection of academic brand value, higher compliance with integrity standards, and streamlined department grading metrics.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576072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5760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54480"/>
            <a:ext cx="53949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Key Performance Indicators (KPIs)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57400"/>
            <a:ext cx="45720" cy="77724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057400"/>
            <a:ext cx="5029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77440"/>
            <a:ext cx="5029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Zero domain-leakage in generated gaps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63240"/>
            <a:ext cx="45720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063240"/>
            <a:ext cx="5029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83280"/>
            <a:ext cx="5029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In-memory processing runs in &lt; 5 seconds per request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069080"/>
            <a:ext cx="4572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069080"/>
            <a:ext cx="5029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389120"/>
            <a:ext cx="5029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100% of validated gaps trace back to actual paper sources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074920"/>
            <a:ext cx="45720" cy="777240"/>
          </a:xfrm>
          <a:prstGeom prst="rect">
            <a:avLst/>
          </a:prstGeom>
          <a:solidFill>
            <a:srgbClr val="815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074920"/>
            <a:ext cx="5029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Adoption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394960"/>
            <a:ext cx="5029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Role-Based workspaces fully separate views &amp;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Project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737360"/>
            <a:ext cx="576072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54864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99669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 Presentation Slides: Fully detailed PowerPoint outlining business problems, solution design, and architecture.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17520"/>
            <a:ext cx="54864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99669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 Business Process Flowchart: Interactive mapping of the user journey and backend analysis pipelines.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931920"/>
            <a:ext cx="54864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20"/>
            <a:ext cx="99669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 Requirements Specification: Clear breakdowns of Functional, Non-functional, User, and System parameters.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